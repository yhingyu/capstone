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a614f4ec4843cc" /><Relationship Type="http://schemas.openxmlformats.org/officeDocument/2006/relationships/extended-properties" Target="/docProps/app.xml" Id="R045a3e3fb9074b38" /><Relationship Type="http://schemas.openxmlformats.org/officeDocument/2006/relationships/officeDocument" Target="/ppt/presentation.xml" Id="Rf188a42110d74a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c2c584c45b4f4b"/>
  </p:sldMasterIdLst>
  <p:notesMasterIdLst>
    <p:notesMasterId xmlns:r="http://schemas.openxmlformats.org/officeDocument/2006/relationships" r:id="Re81fa548048a46bb"/>
  </p:notesMasterIdLst>
  <p:sldIdLst>
    <p:sldId xmlns:r="http://schemas.openxmlformats.org/officeDocument/2006/relationships" id="256" r:id="Rccfc5e49f0e14ae1"/>
    <p:sldId xmlns:r="http://schemas.openxmlformats.org/officeDocument/2006/relationships" id="257" r:id="R268f8a8643484e66"/>
    <p:sldId xmlns:r="http://schemas.openxmlformats.org/officeDocument/2006/relationships" id="258" r:id="R88cd795e26844576"/>
    <p:sldId xmlns:r="http://schemas.openxmlformats.org/officeDocument/2006/relationships" id="259" r:id="R1aadf4c464c847f7"/>
    <p:sldId xmlns:r="http://schemas.openxmlformats.org/officeDocument/2006/relationships" id="260" r:id="Reaaa193062e6490b"/>
    <p:sldId xmlns:r="http://schemas.openxmlformats.org/officeDocument/2006/relationships" id="261" r:id="R63cef572c19b455f"/>
    <p:sldId xmlns:r="http://schemas.openxmlformats.org/officeDocument/2006/relationships" id="262" r:id="R22c8cfb41ec54999"/>
    <p:sldId xmlns:r="http://schemas.openxmlformats.org/officeDocument/2006/relationships" id="263" r:id="R9988fa85f8e34c5c"/>
    <p:sldId xmlns:r="http://schemas.openxmlformats.org/officeDocument/2006/relationships" id="264" r:id="Rfe49cde0cedd4e42"/>
    <p:sldId xmlns:r="http://schemas.openxmlformats.org/officeDocument/2006/relationships" id="265" r:id="R2ba86d42b9e34f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7469bde9b8412c" /><Relationship Type="http://schemas.openxmlformats.org/officeDocument/2006/relationships/slideMaster" Target="/ppt/slideMasters/slideMaster1.xml" Id="R41c2c584c45b4f4b" /><Relationship Type="http://schemas.openxmlformats.org/officeDocument/2006/relationships/notesMaster" Target="/ppt/notesMasters/notesMaster1.xml" Id="Re81fa548048a46bb" /><Relationship Type="http://schemas.openxmlformats.org/officeDocument/2006/relationships/presProps" Target="/ppt/presProps.xml" Id="Rcc12b169cdc34f69" /><Relationship Type="http://schemas.openxmlformats.org/officeDocument/2006/relationships/tableStyles" Target="/ppt/tableStyles.xml" Id="R921a5ba43c884ec4" /><Relationship Type="http://schemas.openxmlformats.org/officeDocument/2006/relationships/slide" Target="/ppt/slides/slide1.xml" Id="Rccfc5e49f0e14ae1" /><Relationship Type="http://schemas.openxmlformats.org/officeDocument/2006/relationships/slide" Target="/ppt/slides/slide2.xml" Id="R268f8a8643484e66" /><Relationship Type="http://schemas.openxmlformats.org/officeDocument/2006/relationships/slide" Target="/ppt/slides/slide3.xml" Id="R88cd795e26844576" /><Relationship Type="http://schemas.openxmlformats.org/officeDocument/2006/relationships/slide" Target="/ppt/slides/slide4.xml" Id="R1aadf4c464c847f7" /><Relationship Type="http://schemas.openxmlformats.org/officeDocument/2006/relationships/slide" Target="/ppt/slides/slide5.xml" Id="Reaaa193062e6490b" /><Relationship Type="http://schemas.openxmlformats.org/officeDocument/2006/relationships/slide" Target="/ppt/slides/slide6.xml" Id="R63cef572c19b455f" /><Relationship Type="http://schemas.openxmlformats.org/officeDocument/2006/relationships/slide" Target="/ppt/slides/slide7.xml" Id="R22c8cfb41ec54999" /><Relationship Type="http://schemas.openxmlformats.org/officeDocument/2006/relationships/slide" Target="/ppt/slides/slide8.xml" Id="R9988fa85f8e34c5c" /><Relationship Type="http://schemas.openxmlformats.org/officeDocument/2006/relationships/slide" Target="/ppt/slides/slide9.xml" Id="Rfe49cde0cedd4e42" /><Relationship Type="http://schemas.openxmlformats.org/officeDocument/2006/relationships/slide" Target="/ppt/slides/slide10.xml" Id="R2ba86d42b9e34f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b680cee02742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f60570944d4796" /><Relationship Type="http://schemas.openxmlformats.org/officeDocument/2006/relationships/notesMaster" Target="/ppt/notesMasters/notesMaster1.xml" Id="R218c5787965e4c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8b0887af2843ee" /><Relationship Type="http://schemas.openxmlformats.org/officeDocument/2006/relationships/notesMaster" Target="/ppt/notesMasters/notesMaster1.xml" Id="R7608b5f54e0349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cc9cc17e474de3" /><Relationship Type="http://schemas.openxmlformats.org/officeDocument/2006/relationships/notesMaster" Target="/ppt/notesMasters/notesMaster1.xml" Id="R7909c535a26f43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20491eb14944ea" /><Relationship Type="http://schemas.openxmlformats.org/officeDocument/2006/relationships/notesMaster" Target="/ppt/notesMasters/notesMaster1.xml" Id="R007d2135e24a43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013f9be5f2498a" /><Relationship Type="http://schemas.openxmlformats.org/officeDocument/2006/relationships/notesMaster" Target="/ppt/notesMasters/notesMaster1.xml" Id="Rd4476eb051c54b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d58d4907634ae0" /><Relationship Type="http://schemas.openxmlformats.org/officeDocument/2006/relationships/notesMaster" Target="/ppt/notesMasters/notesMaster1.xml" Id="R423a2be52f0d41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b166e221ae44ff" /><Relationship Type="http://schemas.openxmlformats.org/officeDocument/2006/relationships/notesMaster" Target="/ppt/notesMasters/notesMaster1.xml" Id="R14c1b169393141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29a195b9264e29" /><Relationship Type="http://schemas.openxmlformats.org/officeDocument/2006/relationships/notesMaster" Target="/ppt/notesMasters/notesMaster1.xml" Id="R3a3c93faaa8848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8617e3200f4b55" /><Relationship Type="http://schemas.openxmlformats.org/officeDocument/2006/relationships/notesMaster" Target="/ppt/notesMasters/notesMaster1.xml" Id="Rac3893abb54e43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c52060cadf4302" /><Relationship Type="http://schemas.openxmlformats.org/officeDocument/2006/relationships/notesMaster" Target="/ppt/notesMasters/notesMaster1.xml" Id="Rb5192c74075c4c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deck presents a decision-oriented summary of the household energy forecasting capstone. Forecasts are estimates, not official Meralco bills.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Philippine Statistics Authority, 2023 household electricity access statistics; Meralco corporate customer count. Philippine context motivates the use case; the model data itself comes from France.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three-tier warning logic is proposed for application design. Thresholds still require calibration on local data and user research.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UCI dataset contains consumption but no intervention or billing outcome. Therefore savings and ROI remain pilot hypotheses, not validated capstone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capstone model notebook. XGBoost test MAE 3.7232 kWh versus 5.7282 kWh for seasonal naive, a 35.0% improvement. The model was selected using validation MAE before test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capstone model notebook. Test confusion matrix: true negatives 148, false positives 2, false negatives 18, true positives 5. High-use threshold is actual consumption above 120% of the prior 30-day mean.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fairness notebook found that the available dataset has no gender, race, age, income, socioeconomic status, or multiple-household identifiers. Demographic fairness metrics cannot be computed validly from this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proposed stage-gated pilot sequence. It avoids committing to unsupported timelines, participant counts, or ROI targets before stakeholder scoping.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Targets for these KPIs should be set jointly with product, data, operations, privacy, and customer stakeholders after local baseline measurement.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Executive recommendation based on the completed model, explainability, limitation, and fairness analyses. Sources: UCI Machine Learning Repository; capstone Steps 1–5; Philippine Statistics Authority; Meralco public corporate information.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f3a36aa4c74d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22b7526bcc499a" /><Relationship Type="http://schemas.openxmlformats.org/officeDocument/2006/relationships/slideLayout" Target="/ppt/slideLayouts/slideLayout1.xml" Id="R869a86871d4845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9a86871d4845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8abdb4911e459e" /><Relationship Type="http://schemas.openxmlformats.org/officeDocument/2006/relationships/notesSlide" Target="/ppt/notesSlides/notesSlide1.xml" Id="Rdaa3a6f5913949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59aa21fc84720" /><Relationship Type="http://schemas.openxmlformats.org/officeDocument/2006/relationships/notesSlide" Target="/ppt/notesSlides/notesSlide2.xml" Id="R90458c00c61140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2b925ceb4494a" /><Relationship Type="http://schemas.openxmlformats.org/officeDocument/2006/relationships/notesSlide" Target="/ppt/notesSlides/notesSlide3.xml" Id="Rb8dcc34a2b3145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5a59c2cac4a7b" /><Relationship Type="http://schemas.openxmlformats.org/officeDocument/2006/relationships/notesSlide" Target="/ppt/notesSlides/notesSlide4.xml" Id="R7d1bb3c159b44b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65391771047a7" /><Relationship Type="http://schemas.openxmlformats.org/officeDocument/2006/relationships/chart" Target="/ppt/slides/charts/chart1.xml" Id="R864773602088417f" /><Relationship Type="http://schemas.openxmlformats.org/officeDocument/2006/relationships/notesSlide" Target="/ppt/notesSlides/notesSlide5.xml" Id="R071e390461d249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9a0c25ac64373" /><Relationship Type="http://schemas.openxmlformats.org/officeDocument/2006/relationships/chart" Target="/ppt/slides/charts/chart2.xml" Id="Rc882694dd4cc4c98" /><Relationship Type="http://schemas.openxmlformats.org/officeDocument/2006/relationships/notesSlide" Target="/ppt/notesSlides/notesSlide6.xml" Id="R3e931b36f04343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15087d0de4574" /><Relationship Type="http://schemas.openxmlformats.org/officeDocument/2006/relationships/notesSlide" Target="/ppt/notesSlides/notesSlide7.xml" Id="R29259a6e0b7c43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c72184e90440b" /><Relationship Type="http://schemas.openxmlformats.org/officeDocument/2006/relationships/notesSlide" Target="/ppt/notesSlides/notesSlide8.xml" Id="R6f3ab68065ae4e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9cf8160f840a4" /><Relationship Type="http://schemas.openxmlformats.org/officeDocument/2006/relationships/notesSlide" Target="/ppt/notesSlides/notesSlide9.xml" Id="Rfc49b669d69143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ff6a5e67d848cf" /><Relationship Type="http://schemas.openxmlformats.org/officeDocument/2006/relationships/notesSlide" Target="/ppt/notesSlides/notesSlide10.xml" Id="R206ddb5aecba434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Test MAE</c:v>
          </c:tx>
          <c:spPr>
            <a:solidFill xmlns:a="http://schemas.openxmlformats.org/drawingml/2006/main">
              <a:srgbClr val="0F766E"/>
            </a:solidFill>
          </c:spPr>
          <c:cat>
            <c:strRef>
              <c:f>'Chart Data'!$A$2:$A$3</c:f>
              <c:strCache>
                <c:ptCount val="2"/>
                <c:pt idx="0">
                  <c:v>Seasonal naive</c:v>
                </c:pt>
                <c:pt idx="1">
                  <c:v>XGBoost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5.7282</c:v>
                </c:pt>
                <c:pt idx="1">
                  <c:v>3.7232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High-use test days</c:v>
          </c:tx>
          <c:spPr>
            <a:solidFill xmlns:a="http://schemas.openxmlformats.org/drawingml/2006/main">
              <a:srgbClr val="F59E0B"/>
            </a:solidFill>
          </c:spPr>
          <c:cat>
            <c:strRef>
              <c:f>'Chart Data'!$A$2:$A$3</c:f>
              <c:strCache>
                <c:ptCount val="2"/>
                <c:pt idx="0">
                  <c:v>Detected</c:v>
                </c:pt>
                <c:pt idx="1">
                  <c:v>Missed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5</c:v>
                </c:pt>
                <c:pt idx="1">
                  <c:v>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4806C1-9E9C-421B-950F-AF40E738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04EC26-E284-48D1-8B75-A4ECA766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286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0A7B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90A7B9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6298C7-0FBD-4834-86FC-EAF584E9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76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06CDA-613C-41B9-9881-68300A90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7620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23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EARLIER VISIBILITY FOR</a:t>
            </a:r>
          </a:p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HOUSEHOLD ELECTRICITY 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ECAAD-CF79-4E36-A6D5-8DCF4961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676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5D4D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C5D4DF"/>
                </a:solidFill>
                <a:latin typeface="DejaVu Sans"/>
                <a:ea typeface="DejaVu Sans"/>
                <a:cs typeface="DejaVu Sans"/>
              </a:rPr>
              <a:t>An evidence-based path from next-day forecasting to safer household energy warnings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E8129A-8839-4A5B-9618-79E00F40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933450"/>
            <a:ext cx="2571750" cy="41910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E1963-ACB5-4EE5-90B3-C9A5B378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3525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9F4EE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B9F4EE"/>
                </a:solidFill>
                <a:latin typeface="DejaVu Sans"/>
                <a:ea typeface="DejaVu Sans"/>
                <a:cs typeface="DejaVu Sans"/>
              </a:rPr>
              <a:t>Tomorrow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C54DB9-8C7D-4862-8129-01B85A15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62150"/>
            <a:ext cx="2019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26.8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9FA60E-0E26-491F-BE76-39B196CF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384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kWh forecast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78C8CB-D7C3-4BD1-BDBB-C929C910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38550"/>
            <a:ext cx="1714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B46837-AC7D-4F47-BEB0-5EC69C46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766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WATCH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A90720-BE2F-4533-9126-91A87522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674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0A7B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90A7B9"/>
                </a:solidFill>
                <a:latin typeface="DejaVu Sans"/>
                <a:ea typeface="DejaVu Sans"/>
                <a:cs typeface="DejaVu Sans"/>
              </a:rPr>
              <a:t>Capstone Step 6 · Business presentation</a:t>
            </a:r>
          </a:p>
        </p:txBody>
      </p:sp>
    </p:spTree>
    <p:extLst>
      <p:ext uri="{BB962C8B-B14F-4D97-AF65-F5344CB8AC3E}">
        <p14:creationId xmlns:p14="http://schemas.microsoft.com/office/powerpoint/2010/main" val="11998072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6FF0F0-378C-4EEA-83C5-61856240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38708-C67F-4307-9C0C-D4F667C9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Monthly bills arrive after the opportunity to 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5FB682-BC93-40CD-9E9E-1736ACB4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286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5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57A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F717A2-6D50-4066-B512-219A02B8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186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30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63047"/>
                </a:solidFill>
                <a:latin typeface="DejaVu Sans"/>
                <a:ea typeface="DejaVu Sans"/>
                <a:cs typeface="DejaVu Sans"/>
              </a:rPr>
              <a:t>Most households see the financial consequence after consumption has already occurred. The capstone tests whether a next-day estimate can create an earlier decision point.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B590CC-F0CB-4EAC-A06D-854EC9D0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766E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F766E"/>
                </a:solidFill>
                <a:latin typeface="DejaVu Sans"/>
                <a:ea typeface="DejaVu Sans"/>
                <a:cs typeface="DejaVu Sans"/>
              </a:rPr>
              <a:t>26.47M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D17C3-B8E4-4115-8A1B-A18A0146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57A"/>
                </a:solidFill>
                <a:latin typeface="DejaVu Sans"/>
                <a:ea typeface="DejaVu Sans"/>
                <a:cs typeface="DejaVu Sans"/>
              </a:rPr>
              <a:t>Filipino households used electricity in 2023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075245-2DCF-46B9-97B6-46839E25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050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766E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F766E"/>
                </a:solidFill>
                <a:latin typeface="DejaVu Sans"/>
                <a:ea typeface="DejaVu Sans"/>
                <a:cs typeface="DejaVu Sans"/>
              </a:rPr>
              <a:t>94.8%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1CE51-9CF3-4E87-8891-F6E883C9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7180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57A"/>
                </a:solidFill>
                <a:latin typeface="DejaVu Sans"/>
                <a:ea typeface="DejaVu Sans"/>
                <a:cs typeface="DejaVu Sans"/>
              </a:rPr>
              <a:t>of Philippine households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0A13B4-B47D-405B-BB35-8AF92492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766E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F766E"/>
                </a:solidFill>
                <a:latin typeface="DejaVu Sans"/>
                <a:ea typeface="DejaVu Sans"/>
                <a:cs typeface="DejaVu Sans"/>
              </a:rPr>
              <a:t>&gt;8M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CF53C1-EAC8-4018-A069-36E360FD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718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57A"/>
                </a:solidFill>
                <a:latin typeface="DejaVu Sans"/>
                <a:ea typeface="DejaVu Sans"/>
                <a:cs typeface="DejaVu Sans"/>
              </a:rPr>
              <a:t>Meralco customers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4EAB8F-5E22-4D75-B3A5-AC4A709A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1D6678-127E-4725-8C8B-F8B67ED3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The business need is consumption visibility and timely guidance, not replacement of the utility meter or bill.</a:t>
            </a:r>
          </a:p>
        </p:txBody>
      </p:sp>
    </p:spTree>
    <p:extLst>
      <p:ext uri="{BB962C8B-B14F-4D97-AF65-F5344CB8AC3E}">
        <p14:creationId xmlns:p14="http://schemas.microsoft.com/office/powerpoint/2010/main" val="9267907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82A9FE-8DCD-43AA-93DE-82E1EBB9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6A5898-EFF6-4128-B4AA-CD2AF02B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81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The proposed experience turns a forecast into a choice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DB1756-0655-4422-AFA6-5DB3E0CA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286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5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57A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8DF93A-D194-4D2B-ABF6-C4746A29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2076450" cy="25717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05AD9B-DB35-4E68-B5D3-A202AA93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28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F766E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2C9C4-30D6-4808-9CE1-10927B47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MEASURE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A9D48C-9AAC-4F50-9238-EE16B375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76550"/>
            <a:ext cx="1657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57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57A"/>
                </a:solidFill>
                <a:latin typeface="DejaVu Sans"/>
                <a:ea typeface="DejaVu Sans"/>
                <a:cs typeface="DejaVu Sans"/>
              </a:rPr>
              <a:t>Read recent household consumption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B13079-97CF-4355-B67A-CB50E246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47950"/>
            <a:ext cx="419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901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766E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F766E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AC3177-3026-46DD-B262-7E9D80FF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676400"/>
            <a:ext cx="2076450" cy="25717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228372-8A35-4AC7-BC0A-ADB57CED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28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F766E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61436B-9363-4046-BFAA-BCAA8BEC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622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FORECAST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A76D71-719D-4DA5-B3DD-5FD74F4D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76550"/>
            <a:ext cx="1657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532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57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57A"/>
                </a:solidFill>
                <a:latin typeface="DejaVu Sans"/>
                <a:ea typeface="DejaVu Sans"/>
                <a:cs typeface="DejaVu Sans"/>
              </a:rPr>
              <a:t>Estimate tomorrow's kWh with uncertainty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03F028-D687-4647-B0C1-C21A08A1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647950"/>
            <a:ext cx="419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901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766E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F766E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F4DD37-27D2-47F1-9CA2-D1194A0B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2076450" cy="25717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0DE418-7B6C-46FC-A6F0-F4326F74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28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F766E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A2A9EE-200A-4C25-B124-CF957905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622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SIGNAL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E203D6-3DF4-4D8F-8E0D-5BEAA315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76550"/>
            <a:ext cx="1657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57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57A"/>
                </a:solidFill>
                <a:latin typeface="DejaVu Sans"/>
                <a:ea typeface="DejaVu Sans"/>
                <a:cs typeface="DejaVu Sans"/>
              </a:rPr>
              <a:t>Show Watch, Moderate, or High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B0A785-E3FB-4EA0-A1CC-898F7219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47950"/>
            <a:ext cx="419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901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766E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F766E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531891-0108-4DAD-8282-BA2D3198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676400"/>
            <a:ext cx="2076450" cy="25717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08E9EA-EAC0-453D-86F5-D07718CD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28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F766E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0E02B9-A7FA-419E-BD32-17009CED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622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0DFC23-3479-4074-A85A-EDD91435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76550"/>
            <a:ext cx="1657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6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57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57A"/>
                </a:solidFill>
                <a:latin typeface="DejaVu Sans"/>
                <a:ea typeface="DejaVu Sans"/>
                <a:cs typeface="DejaVu Sans"/>
              </a:rPr>
              <a:t>Shift discretionary use and monitor progress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45E1DE-7922-40CE-A3F2-BEA536FB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00600"/>
            <a:ext cx="1000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30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63047"/>
                </a:solidFill>
                <a:latin typeface="DejaVu Sans"/>
                <a:ea typeface="DejaVu Sans"/>
                <a:cs typeface="DejaVu Sans"/>
              </a:rPr>
              <a:t>Customer control remains central: thresholds are configurable, uncertainty is visible, and alerts explain why they appeared.</a:t>
            </a:r>
          </a:p>
        </p:txBody>
      </p:sp>
    </p:spTree>
    <p:extLst>
      <p:ext uri="{BB962C8B-B14F-4D97-AF65-F5344CB8AC3E}">
        <p14:creationId xmlns:p14="http://schemas.microsoft.com/office/powerpoint/2010/main" val="11919617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F26673-5EBE-4516-89CC-DF8A2DED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80DF0E-E241-46EB-96E7-CB69F7B3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004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Value comes from timely action, not from prediction alone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7A3E4-C3F5-4C9F-A971-1559F53D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286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5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57A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CF160-DD58-4473-B60C-38F7C450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860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766E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F766E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61ACB9-524A-4D10-B7B5-46A0D6E1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28750"/>
            <a:ext cx="560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893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304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63047"/>
                </a:solidFill>
                <a:latin typeface="DejaVu Sans"/>
                <a:ea typeface="DejaVu Sans"/>
                <a:cs typeface="DejaVu Sans"/>
              </a:rPr>
              <a:t>Awareness: show expected consumption before the day begins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FDDAD0-6F51-47A5-8C10-3D30F30F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860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766E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F766E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5B285-8727-4612-BCA7-165456DF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560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11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304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63047"/>
                </a:solidFill>
                <a:latin typeface="DejaVu Sans"/>
                <a:ea typeface="DejaVu Sans"/>
                <a:cs typeface="DejaVu Sans"/>
              </a:rPr>
              <a:t>Action: encourage load shifting or reduced discretionary use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50D9C0-2685-4502-927D-272F97EF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860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766E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F766E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1A3DB1-1521-43C7-AD22-CE107C53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560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61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304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63047"/>
                </a:solidFill>
                <a:latin typeface="DejaVu Sans"/>
                <a:ea typeface="DejaVu Sans"/>
                <a:cs typeface="DejaVu Sans"/>
              </a:rPr>
              <a:t>Learning: compare forecast, actual use, and household response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892270-29CE-45C3-AABB-80E8130D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860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766E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F766E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83F9B2-5E92-4DC0-8135-E424ED35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57650"/>
            <a:ext cx="560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515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304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63047"/>
                </a:solidFill>
                <a:latin typeface="DejaVu Sans"/>
                <a:ea typeface="DejaVu Sans"/>
                <a:cs typeface="DejaVu Sans"/>
              </a:rPr>
              <a:t>Savings: estimate avoided kWh and cost only after behavior is observed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03F9CE-00DA-4AF0-ACB3-4484F72C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28750"/>
            <a:ext cx="3905250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C526C9-C3E4-488E-9B15-DA0DDFA5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335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ROI discipline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ACBFDA-136F-486E-BE9E-3FC9025F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19350"/>
            <a:ext cx="2990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965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No peso savings claim is made from the current dataset.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5C8B47-FFFD-4FB0-AD7A-750DF917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9565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5D4D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C5D4DF"/>
                </a:solidFill>
                <a:latin typeface="DejaVu Sans"/>
                <a:ea typeface="DejaVu Sans"/>
                <a:cs typeface="DejaVu Sans"/>
              </a:rPr>
              <a:t>A Philippine pilot must measure engagement, avoided kWh, tariff-adjusted savings, and operating cost before an ROI case is approved.</a:t>
            </a:r>
          </a:p>
        </p:txBody>
      </p:sp>
    </p:spTree>
    <p:extLst>
      <p:ext uri="{BB962C8B-B14F-4D97-AF65-F5344CB8AC3E}">
        <p14:creationId xmlns:p14="http://schemas.microsoft.com/office/powerpoint/2010/main" val="214041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B12103-85C0-4A3D-A36A-48FF0675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2D8E0-57C7-49DC-8E3F-179568F9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The forecast reduced average error by 35%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B9E35-C6D9-4329-BB9C-FE5E580B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286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5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57A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66750" y="1381125"/>
          <a:ext xmlns:a="http://schemas.openxmlformats.org/drawingml/2006/main" cx="6667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64773602088417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A2AA6-3E02-48CE-B794-8F4FDA81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811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766E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F766E"/>
                </a:solidFill>
                <a:latin typeface="DejaVu Sans"/>
                <a:ea typeface="DejaVu Sans"/>
                <a:cs typeface="DejaVu Sans"/>
              </a:rPr>
              <a:t>3.72 kWh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AC9F8-3D75-4A12-94B6-A03D03CC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479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57A"/>
                </a:solidFill>
                <a:latin typeface="DejaVu Sans"/>
                <a:ea typeface="DejaVu Sans"/>
                <a:cs typeface="DejaVu Sans"/>
              </a:rPr>
              <a:t>test MAE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0E9D1-6639-4DC7-A334-AB596CF9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289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766E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F766E"/>
                </a:solidFill>
                <a:latin typeface="DejaVu Sans"/>
                <a:ea typeface="DejaVu Sans"/>
                <a:cs typeface="DejaVu Sans"/>
              </a:rPr>
              <a:t>18.73%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49D305-0323-4DB6-B56A-CB58FD11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957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57A"/>
                </a:solidFill>
                <a:latin typeface="DejaVu Sans"/>
                <a:ea typeface="DejaVu Sans"/>
                <a:cs typeface="DejaVu Sans"/>
              </a:rPr>
              <a:t>test MAPE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EBAA81-2F28-4068-9836-A19D0A1C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76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766E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F766E"/>
                </a:solidFill>
                <a:latin typeface="DejaVu Sans"/>
                <a:ea typeface="DejaVu Sans"/>
                <a:cs typeface="DejaVu Sans"/>
              </a:rPr>
              <a:t>0.546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83C6B0-7A93-4909-9CF7-F0D13C3F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435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57A"/>
                </a:solidFill>
                <a:latin typeface="DejaVu Sans"/>
                <a:ea typeface="DejaVu Sans"/>
                <a:cs typeface="DejaVu Sans"/>
              </a:rPr>
              <a:t>test R²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BD521C-D5DB-48FC-B1AB-BD4E0734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57A"/>
                </a:solidFill>
                <a:latin typeface="DejaVu Sans"/>
                <a:ea typeface="DejaVu Sans"/>
                <a:cs typeface="DejaVu Sans"/>
              </a:rPr>
              <a:t>173-day held-out test period</a:t>
            </a:r>
          </a:p>
        </p:txBody>
      </p:sp>
    </p:spTree>
    <p:extLst>
      <p:ext uri="{BB962C8B-B14F-4D97-AF65-F5344CB8AC3E}">
        <p14:creationId xmlns:p14="http://schemas.microsoft.com/office/powerpoint/2010/main" val="13211576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7EB0C7-D015-4FBA-906C-9D2AFA10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72DF0C-E96B-41B8-A270-BEFD068C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384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The current warning system misses too many high-use days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C43E9A-EAD2-4514-97FE-256BB976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286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5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57A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762000" y="1447800"/>
          <a:ext xmlns:a="http://schemas.openxmlformats.org/drawingml/2006/main" cx="5810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882694dd4cc4c9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F20525-11D1-4C1E-8A8D-A494DF9E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28750"/>
            <a:ext cx="39052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905822-45DF-44FF-90A4-35508A5D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8097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DC2626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DC2626"/>
                </a:solidFill>
                <a:latin typeface="DejaVu Sans"/>
                <a:ea typeface="DejaVu Sans"/>
                <a:cs typeface="DejaVu Sans"/>
              </a:rPr>
              <a:t>21.74%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C0922F-4A2D-4B7D-A1FC-512B4309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765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57A"/>
                </a:solidFill>
                <a:latin typeface="DejaVu Sans"/>
                <a:ea typeface="DejaVu Sans"/>
                <a:cs typeface="DejaVu Sans"/>
              </a:rPr>
              <a:t>warning recall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01B772-157D-4354-A7CD-81065F26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194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766E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F766E"/>
                </a:solidFill>
                <a:latin typeface="DejaVu Sans"/>
                <a:ea typeface="DejaVu Sans"/>
                <a:cs typeface="DejaVu Sans"/>
              </a:rPr>
              <a:t>71.43%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EF62B4-B09B-44AE-9525-48F701A5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8862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57A"/>
                </a:solidFill>
                <a:latin typeface="DejaVu Sans"/>
                <a:ea typeface="DejaVu Sans"/>
                <a:cs typeface="DejaVu Sans"/>
              </a:rPr>
              <a:t>warning precision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1383C2-F6B5-43E2-AABE-5655131B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1019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9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Recommendation: use tiered advisory signals during the pilot. Do not position the model as a reliable bill-shock alarm yet.</a:t>
            </a:r>
          </a:p>
        </p:txBody>
      </p:sp>
    </p:spTree>
    <p:extLst>
      <p:ext uri="{BB962C8B-B14F-4D97-AF65-F5344CB8AC3E}">
        <p14:creationId xmlns:p14="http://schemas.microsoft.com/office/powerpoint/2010/main" val="646017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53298A-10DF-437F-960F-8E361157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0133BD-6B60-4FDC-9548-50DE4F9D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Deployment requires five explicit guardrails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BA97B3-57AE-4018-A838-8CBF1CA9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286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5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57A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3FC38-BAB4-4B48-9BF1-87400702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192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766E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F766E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EAA5BA-602F-446B-90DC-A0C97610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2192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LOCAL VALIDITY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EBB2B-9F6C-47CC-971A-73174393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21920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333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57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57A"/>
                </a:solidFill>
                <a:latin typeface="DejaVu Sans"/>
                <a:ea typeface="DejaVu Sans"/>
                <a:cs typeface="DejaVu Sans"/>
              </a:rPr>
              <a:t>Train and calibrate on diverse Philippine households before claims about Meralco customers.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C9959-9D83-4632-BD8C-23788A97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885950"/>
            <a:ext cx="967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825E7C-DDC9-40B1-9562-1004BFC2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766E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F766E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EC0AA4-0228-4F34-A030-A88A894D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1526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PRIVACY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D1199A-7427-4C09-A783-9D82BEF4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5265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333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57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57A"/>
                </a:solidFill>
                <a:latin typeface="DejaVu Sans"/>
                <a:ea typeface="DejaVu Sans"/>
                <a:cs typeface="DejaVu Sans"/>
              </a:rPr>
              <a:t>Use consent, data minimization, secure retention, and household-level access controls.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3E4065-E784-4A21-8FDF-2EA292B3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19400"/>
            <a:ext cx="967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D24DD4-4E3E-417B-B442-0012DB42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766E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F766E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08B864-0118-4AFB-9BB8-EF11CBEA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0861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UNCERTAINTY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96A949-B383-453B-9A4B-FB4DC776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8610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57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57A"/>
                </a:solidFill>
                <a:latin typeface="DejaVu Sans"/>
                <a:ea typeface="DejaVu Sans"/>
                <a:cs typeface="DejaVu Sans"/>
              </a:rPr>
              <a:t>Display forecast ranges and label outputs as estimates, not official bills.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83AA84-B7E1-4FC4-8A18-38BF6E2C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52850"/>
            <a:ext cx="967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66FB54-0F95-452A-995E-D3E12FA7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766E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F766E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B564E9-E3A4-42FC-8C90-9327961E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195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ALERT FATIGUE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B6ECEC-7927-4132-AF9E-89E7ABD7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01955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57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57A"/>
                </a:solidFill>
                <a:latin typeface="DejaVu Sans"/>
                <a:ea typeface="DejaVu Sans"/>
                <a:cs typeface="DejaVu Sans"/>
              </a:rPr>
              <a:t>Let users tune sensitivity; monitor false alerts and opt-outs.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562E9A-9C0A-4C7A-91BF-DD8EE739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86300"/>
            <a:ext cx="967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1E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DD9A00-0004-42ED-91C6-735A9D7A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766E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F766E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976B8F-493A-4CC8-B321-986E554E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53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FAIRNESS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7DB068-2C3E-487B-94F9-31EEE88C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953000"/>
            <a:ext cx="704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333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57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57A"/>
                </a:solidFill>
                <a:latin typeface="DejaVu Sans"/>
                <a:ea typeface="DejaVu Sans"/>
                <a:cs typeface="DejaVu Sans"/>
              </a:rPr>
              <a:t>Collect approved demographic and socioeconomic variables only when justified, then audit outcomes.</a:t>
            </a:r>
          </a:p>
        </p:txBody>
      </p:sp>
    </p:spTree>
    <p:extLst>
      <p:ext uri="{BB962C8B-B14F-4D97-AF65-F5344CB8AC3E}">
        <p14:creationId xmlns:p14="http://schemas.microsoft.com/office/powerpoint/2010/main" val="16299364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2F4B4E-AFBD-4AA1-A3EB-D42B6CB1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C14BF-F91B-45C7-A901-BED7D1A6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A staged pilot converts uncertainty into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9CCC53-86C0-4028-938F-1B011BEC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286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5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57A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02EF20-886E-414E-9DD9-003A4FF4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2571750" cy="2952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122BD5-61D2-45F4-A15A-5A4BEBB0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766E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F766E"/>
                </a:solidFill>
                <a:latin typeface="DejaVu Sans"/>
                <a:ea typeface="DejaVu Sans"/>
                <a:cs typeface="DejaVu Sans"/>
              </a:rPr>
              <a:t>1 ·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4232E-3E30-4AED-8523-6CFF89CD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20764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68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30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63047"/>
                </a:solidFill>
                <a:latin typeface="DejaVu Sans"/>
                <a:ea typeface="DejaVu Sans"/>
                <a:cs typeface="DejaVu Sans"/>
              </a:rPr>
              <a:t>Recruit diverse, consenting households and validate meter quality.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C478D0-4F65-4788-81D8-085315BC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00200"/>
            <a:ext cx="2571750" cy="2952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F50715-4718-423A-80DC-0DA8765A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478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766E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F766E"/>
                </a:solidFill>
                <a:latin typeface="DejaVu Sans"/>
                <a:ea typeface="DejaVu Sans"/>
                <a:cs typeface="DejaVu Sans"/>
              </a:rPr>
              <a:t>2 · SILENT RUN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8F5F63-8D76-451E-81D8-E524BBCC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71750"/>
            <a:ext cx="20764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30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63047"/>
                </a:solidFill>
                <a:latin typeface="DejaVu Sans"/>
                <a:ea typeface="DejaVu Sans"/>
                <a:cs typeface="DejaVu Sans"/>
              </a:rPr>
              <a:t>Forecast without alerts; establish local error and drift baselines.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CBD254-5CC2-44EF-871D-59D72501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00200"/>
            <a:ext cx="2571750" cy="2952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15559C-2226-409A-ADC9-D8448588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478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766E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F766E"/>
                </a:solidFill>
                <a:latin typeface="DejaVu Sans"/>
                <a:ea typeface="DejaVu Sans"/>
                <a:cs typeface="DejaVu Sans"/>
              </a:rPr>
              <a:t>3 · ADVISORY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57F485-6C4F-4033-9061-7B91E6A5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71750"/>
            <a:ext cx="20764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30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63047"/>
                </a:solidFill>
                <a:latin typeface="DejaVu Sans"/>
                <a:ea typeface="DejaVu Sans"/>
                <a:cs typeface="DejaVu Sans"/>
              </a:rPr>
              <a:t>Test configurable warning tiers and explanations with users.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0AC63D-3E5E-4BE2-88DF-7ABA0F19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600200"/>
            <a:ext cx="2571750" cy="2952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8F3F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624FAE-F1E5-4A40-A2E0-610FB2FE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8478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766E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F766E"/>
                </a:solidFill>
                <a:latin typeface="DejaVu Sans"/>
                <a:ea typeface="DejaVu Sans"/>
                <a:cs typeface="DejaVu Sans"/>
              </a:rPr>
              <a:t>4 · VALUE 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D246CD-B15D-45B1-898F-B5F4D11B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71750"/>
            <a:ext cx="20764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68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304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63047"/>
                </a:solidFill>
                <a:latin typeface="DejaVu Sans"/>
                <a:ea typeface="DejaVu Sans"/>
                <a:cs typeface="DejaVu Sans"/>
              </a:rPr>
              <a:t>Measure engagement, avoided kWh, cost impact, and operational burden.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5C5E0A-B55F-46D1-AE26-1654FE45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673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Advance only when local forecast accuracy, high-use recall, privacy controls, and user acceptance meet agreed gates.</a:t>
            </a:r>
          </a:p>
        </p:txBody>
      </p:sp>
    </p:spTree>
    <p:extLst>
      <p:ext uri="{BB962C8B-B14F-4D97-AF65-F5344CB8AC3E}">
        <p14:creationId xmlns:p14="http://schemas.microsoft.com/office/powerpoint/2010/main" val="3333831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4BF486-0C2B-4A50-BF77-0FA497C0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8CD27B-B805-4FB1-BAB0-67EB4F09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51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The pilot scorecard must balance accuracy, value, and trust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E48C0-84C9-4D79-BD27-1B95A458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286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5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57A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ECB8BA-D300-4E3A-AD60-2CA8C3D8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57A"/>
                </a:solidFill>
                <a:latin typeface="DejaVu Sans"/>
                <a:ea typeface="DejaVu Sans"/>
                <a:cs typeface="DejaVu Sans"/>
              </a:rPr>
              <a:t>DIMENSION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506FF-C1AA-4386-B1A4-E295A85F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257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57A"/>
                </a:solidFill>
                <a:latin typeface="DejaVu Sans"/>
                <a:ea typeface="DejaVu Sans"/>
                <a:cs typeface="DejaVu Sans"/>
              </a:rPr>
              <a:t>MEASURE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AF4D4-0A67-4C70-BE08-842EF5A4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573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5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57A"/>
                </a:solidFill>
                <a:latin typeface="DejaVu Sans"/>
                <a:ea typeface="DejaVu Sans"/>
                <a:cs typeface="DejaVu Sans"/>
              </a:rPr>
              <a:t>DECISION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902964-B42E-4A4B-AA91-80099A0E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109347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B816C-0ECE-49F9-9F01-2DF079F1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Forecast quality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34EDA0-5CFF-492B-97E1-FB7ADEF7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954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63047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63047"/>
                </a:solidFill>
                <a:latin typeface="DejaVu Sans"/>
                <a:ea typeface="DejaVu Sans"/>
                <a:cs typeface="DejaVu Sans"/>
              </a:rPr>
              <a:t>MAE, MAPE, prediction-band coverage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62B066-8EDE-4597-B511-7E4931A7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954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766E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F766E"/>
                </a:solidFill>
                <a:latin typeface="DejaVu Sans"/>
                <a:ea typeface="DejaVu Sans"/>
                <a:cs typeface="DejaVu Sans"/>
              </a:rPr>
              <a:t>Model usefulness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4355C7-B427-4270-AC90-B9C6BAFE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Warning quality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EC88B4-CE76-435E-AC93-FDD497A3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527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63047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63047"/>
                </a:solidFill>
                <a:latin typeface="DejaVu Sans"/>
                <a:ea typeface="DejaVu Sans"/>
                <a:cs typeface="DejaVu Sans"/>
              </a:rPr>
              <a:t>Recall, precision, false-alert rate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B12DC1-FA1D-4CB5-ADAD-D591D3C3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527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766E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F766E"/>
                </a:solidFill>
                <a:latin typeface="DejaVu Sans"/>
                <a:ea typeface="DejaVu Sans"/>
                <a:cs typeface="DejaVu Sans"/>
              </a:rPr>
              <a:t>Bill-shock support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477BC9-5AC4-4A34-94C1-CCC342DE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9347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E2C625-82FE-4993-A37D-0AF149BB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Customer 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8A36A7-D3EC-4706-B8AF-B5800D23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099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63047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63047"/>
                </a:solidFill>
                <a:latin typeface="DejaVu Sans"/>
                <a:ea typeface="DejaVu Sans"/>
                <a:cs typeface="DejaVu Sans"/>
              </a:rPr>
              <a:t>Alert opens, response, opt-outs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E664E5-0F45-46E7-94BC-DB1654EB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099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766E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F766E"/>
                </a:solidFill>
                <a:latin typeface="DejaVu Sans"/>
                <a:ea typeface="DejaVu Sans"/>
                <a:cs typeface="DejaVu Sans"/>
              </a:rPr>
              <a:t>Usability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D13FA3-199B-47AA-8193-D4CA96BF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Business value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EC6E33-2FED-47F4-9674-38D99376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672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145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63047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63047"/>
                </a:solidFill>
                <a:latin typeface="DejaVu Sans"/>
                <a:ea typeface="DejaVu Sans"/>
                <a:cs typeface="DejaVu Sans"/>
              </a:rPr>
              <a:t>Avoided kWh, tariff-adjusted savings, service cost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465C91-C2AF-45F5-BB4E-DFE70B0F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672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766E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F766E"/>
                </a:solidFill>
                <a:latin typeface="DejaVu Sans"/>
                <a:ea typeface="DejaVu Sans"/>
                <a:cs typeface="DejaVu Sans"/>
              </a:rPr>
              <a:t>ROI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2AD85F-4360-44F4-93FC-4716A98C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0"/>
            <a:ext cx="109347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93F442-4B19-41D7-8B6E-C47811E4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445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Responsible 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A697A4-9475-4731-AAE7-0D5C76BF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244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76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63047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63047"/>
                </a:solidFill>
                <a:latin typeface="DejaVu Sans"/>
                <a:ea typeface="DejaVu Sans"/>
                <a:cs typeface="DejaVu Sans"/>
              </a:rPr>
              <a:t>Subgroup gaps, drift, privacy incidents, complaints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2BB272-8472-47E4-A6E4-D2FA557B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244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766E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F766E"/>
                </a:solidFill>
                <a:latin typeface="DejaVu Sans"/>
                <a:ea typeface="DejaVu Sans"/>
                <a:cs typeface="DejaVu Sans"/>
              </a:rPr>
              <a:t>Trust and safety</a:t>
            </a:r>
          </a:p>
        </p:txBody>
      </p:sp>
    </p:spTree>
    <p:extLst>
      <p:ext uri="{BB962C8B-B14F-4D97-AF65-F5344CB8AC3E}">
        <p14:creationId xmlns:p14="http://schemas.microsoft.com/office/powerpoint/2010/main" val="1133531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7F6E7B-E20A-4151-B892-EAC09C41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384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Approve a controlled prototype pilot, not broad deployment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67CDA4-77AE-4B09-8202-BE4BF94F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286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0A7B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90A7B9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BBACF-C6E5-491B-B277-B7682A29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D3EE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2D3EE"/>
                </a:solidFill>
                <a:latin typeface="DejaVu Sans"/>
                <a:ea typeface="DejaVu Sans"/>
                <a:cs typeface="DejaVu Sans"/>
              </a:rPr>
              <a:t>Decision requested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F95771-1435-469C-853C-A81F6EE1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914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999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Proceed to local validation with clear stop gates.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863791-E16A-4025-98C1-C9B3AE18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860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766E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F766E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0BFF59-3D88-455C-9359-1B8C2216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76550"/>
            <a:ext cx="9696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8E4E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8E4EC"/>
                </a:solidFill>
                <a:latin typeface="DejaVu Sans"/>
                <a:ea typeface="DejaVu Sans"/>
                <a:cs typeface="DejaVu Sans"/>
              </a:rPr>
              <a:t>Secure a Philippine household data partner and participant consent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86E5B-0904-41C5-99E0-F92FA7CA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860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766E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F766E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24C36B-1D39-4E2B-9092-81710288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0"/>
            <a:ext cx="9696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8E4E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8E4EC"/>
                </a:solidFill>
                <a:latin typeface="DejaVu Sans"/>
                <a:ea typeface="DejaVu Sans"/>
                <a:cs typeface="DejaVu Sans"/>
              </a:rPr>
              <a:t>Run forecasts silently before activating advisory warnings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268D7B-41A8-4C23-9FDA-90897ED6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860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766E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F766E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836651-5067-4EE4-8E4D-5FBF3947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81450"/>
            <a:ext cx="9696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8E4E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8E4EC"/>
                </a:solidFill>
                <a:latin typeface="DejaVu Sans"/>
                <a:ea typeface="DejaVu Sans"/>
                <a:cs typeface="DejaVu Sans"/>
              </a:rPr>
              <a:t>Calibrate warning tiers for recall, false alerts, and customer preference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BE24DC-E469-48D8-A23B-FE2D4099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339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860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766E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F766E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16644B-6224-400C-8DBA-13BA1FDC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9696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8E4E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8E4EC"/>
                </a:solidFill>
                <a:latin typeface="DejaVu Sans"/>
                <a:ea typeface="DejaVu Sans"/>
                <a:cs typeface="DejaVu Sans"/>
              </a:rPr>
              <a:t>Quantify savings and ROI only from observed pilot behavior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CBDCEF-D49C-4788-ACF9-6781BCE2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860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766E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F766E"/>
                </a:solidFill>
                <a:latin typeface="DejaVu Sans"/>
                <a:ea typeface="DejaVu Sans"/>
                <a:cs typeface="DejaVu Sans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A11B84-F24A-4227-A364-17AE0C38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86350"/>
            <a:ext cx="9696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8E4E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8E4EC"/>
                </a:solidFill>
                <a:latin typeface="DejaVu Sans"/>
                <a:ea typeface="DejaVu Sans"/>
                <a:cs typeface="DejaVu Sans"/>
              </a:rPr>
              <a:t>Re-audit privacy, subgroup performance, and drift before scale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3F1476-7011-4E57-9237-D86FB113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626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91A8B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91A8B8"/>
                </a:solidFill>
                <a:latin typeface="DejaVu Sans"/>
                <a:ea typeface="DejaVu Sans"/>
                <a:cs typeface="DejaVu Sans"/>
              </a:rPr>
              <a:t>Current status: promising forecasting prototype · warning system not deployment-ready</a:t>
            </a:r>
          </a:p>
        </p:txBody>
      </p:sp>
    </p:spTree>
    <p:extLst>
      <p:ext uri="{BB962C8B-B14F-4D97-AF65-F5344CB8AC3E}">
        <p14:creationId xmlns:p14="http://schemas.microsoft.com/office/powerpoint/2010/main" val="16940597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2026-09-15T14:53:24.5330000Z</dcterms:created>
  <dcterms:modified xsi:type="dcterms:W3CDTF">2026-09-15T14:53:24.5330000Z</dcterms:modified>
</coreProperties>
</file>